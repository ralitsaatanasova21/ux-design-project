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Montserrat"/>
      <p:regular r:id="rId16"/>
      <p:bold r:id="rId17"/>
      <p:italic r:id="rId18"/>
      <p:boldItalic r:id="rId19"/>
    </p:embeddedFont>
    <p:embeddedFont>
      <p:font typeface="La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11" Type="http://schemas.openxmlformats.org/officeDocument/2006/relationships/slide" Target="slides/slide6.xml"/><Relationship Id="rId22" Type="http://schemas.openxmlformats.org/officeDocument/2006/relationships/font" Target="fonts/Lato-italic.fntdata"/><Relationship Id="rId10" Type="http://schemas.openxmlformats.org/officeDocument/2006/relationships/slide" Target="slides/slide5.xml"/><Relationship Id="rId21" Type="http://schemas.openxmlformats.org/officeDocument/2006/relationships/font" Target="fonts/La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Montserrat-bold.fntdata"/><Relationship Id="rId16" Type="http://schemas.openxmlformats.org/officeDocument/2006/relationships/font" Target="fonts/Montserrat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Montserrat-boldItalic.fntdata"/><Relationship Id="rId6" Type="http://schemas.openxmlformats.org/officeDocument/2006/relationships/slide" Target="slides/slide1.xml"/><Relationship Id="rId18" Type="http://schemas.openxmlformats.org/officeDocument/2006/relationships/font" Target="fonts/Montserrat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43d53f799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43d53f799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c43d53f799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c43d53f799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43d53f799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c43d53f799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43d53f799_0_2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43d53f799_0_2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c43d53f799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c43d53f799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43d53f799_0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43d53f799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c43d53f799_0_2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c43d53f799_0_2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43d53f799_0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43d53f799_0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c43d53f799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c43d53f799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fmla="val 0" name="adj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fmla="val 58774" name="adj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9" name="Google Shape;39;p3"/>
          <p:cNvSpPr txBox="1"/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" name="Google Shape;4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6" name="Google Shape;46;p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47" name="Google Shape;4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3" name="Google Shape;53;p5"/>
          <p:cNvSpPr txBox="1"/>
          <p:nvPr>
            <p:ph idx="1" type="body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5"/>
          <p:cNvSpPr txBox="1"/>
          <p:nvPr>
            <p:ph idx="2" type="body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0" name="Google Shape;60;p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1" name="Google Shape;6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7"/>
          <p:cNvSpPr txBox="1"/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7"/>
          <p:cNvSpPr txBox="1"/>
          <p:nvPr>
            <p:ph idx="1" type="body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9" name="Google Shape;89;p8"/>
          <p:cNvSpPr txBox="1"/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0" name="Google Shape;9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9"/>
          <p:cNvSpPr txBox="1"/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6" name="Google Shape;96;p9"/>
          <p:cNvSpPr txBox="1"/>
          <p:nvPr>
            <p:ph idx="1" type="subTitle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97" name="Google Shape;97;p9"/>
          <p:cNvSpPr txBox="1"/>
          <p:nvPr>
            <p:ph idx="2" type="body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10"/>
          <p:cNvSpPr txBox="1"/>
          <p:nvPr>
            <p:ph idx="1" type="body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4" name="Google Shape;10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fmla="val 49469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fmla="val 0" name="adj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fmla="val 50000" name="adj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5" name="Google Shape;125;p11"/>
          <p:cNvSpPr txBox="1"/>
          <p:nvPr>
            <p:ph hasCustomPrompt="1" type="title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/>
          <p:nvPr>
            <p:ph idx="1" type="body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focus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bg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loud.indigo.design/study/run/hjp8xzvfnbcb/" TargetMode="External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/>
          <p:nvPr>
            <p:ph type="ctrTitle"/>
          </p:nvPr>
        </p:nvSpPr>
        <p:spPr>
          <a:xfrm>
            <a:off x="2970650" y="557900"/>
            <a:ext cx="5882400" cy="214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bg" sz="2300"/>
              <a:t>“I am buying the same stuff almost every month. I want to buy it, schedule the delivery time and save the basket to be used the next time.”</a:t>
            </a:r>
            <a:endParaRPr sz="2300"/>
          </a:p>
        </p:txBody>
      </p:sp>
      <p:sp>
        <p:nvSpPr>
          <p:cNvPr id="135" name="Google Shape;135;p13"/>
          <p:cNvSpPr txBox="1"/>
          <p:nvPr>
            <p:ph idx="1" type="subTitle"/>
          </p:nvPr>
        </p:nvSpPr>
        <p:spPr>
          <a:xfrm>
            <a:off x="7181000" y="4215825"/>
            <a:ext cx="2971200" cy="67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Tools: Figma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/>
              <a:t>Project type: Personal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/>
              <a:t>User Persona</a:t>
            </a:r>
            <a:endParaRPr b="1"/>
          </a:p>
        </p:txBody>
      </p:sp>
      <p:sp>
        <p:nvSpPr>
          <p:cNvPr id="141" name="Google Shape;141;p14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2" name="Google Shape;142;p14" title="User persona.png"/>
          <p:cNvPicPr preferRelativeResize="0"/>
          <p:nvPr/>
        </p:nvPicPr>
        <p:blipFill rotWithShape="1">
          <a:blip r:embed="rId3">
            <a:alphaModFix/>
          </a:blip>
          <a:srcRect b="11857" l="2645" r="2541" t="13426"/>
          <a:stretch/>
        </p:blipFill>
        <p:spPr>
          <a:xfrm>
            <a:off x="1425350" y="997113"/>
            <a:ext cx="6502176" cy="384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/>
              <a:t>User Journey</a:t>
            </a:r>
            <a:endParaRPr b="1"/>
          </a:p>
        </p:txBody>
      </p:sp>
      <p:sp>
        <p:nvSpPr>
          <p:cNvPr id="148" name="Google Shape;148;p15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9" name="Google Shape;149;p15" title="User Journey.png"/>
          <p:cNvPicPr preferRelativeResize="0"/>
          <p:nvPr/>
        </p:nvPicPr>
        <p:blipFill rotWithShape="1">
          <a:blip r:embed="rId3">
            <a:alphaModFix/>
          </a:blip>
          <a:srcRect b="12661" l="0" r="467" t="16325"/>
          <a:stretch/>
        </p:blipFill>
        <p:spPr>
          <a:xfrm>
            <a:off x="1404125" y="1073000"/>
            <a:ext cx="7273000" cy="389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6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/>
              <a:t>Storyboard</a:t>
            </a:r>
            <a:endParaRPr b="1"/>
          </a:p>
        </p:txBody>
      </p:sp>
      <p:sp>
        <p:nvSpPr>
          <p:cNvPr id="155" name="Google Shape;155;p16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16" title="Storyboard.png"/>
          <p:cNvPicPr preferRelativeResize="0"/>
          <p:nvPr/>
        </p:nvPicPr>
        <p:blipFill rotWithShape="1">
          <a:blip r:embed="rId3">
            <a:alphaModFix/>
          </a:blip>
          <a:srcRect b="8142" l="4828" r="5251" t="7039"/>
          <a:stretch/>
        </p:blipFill>
        <p:spPr>
          <a:xfrm>
            <a:off x="1410400" y="916225"/>
            <a:ext cx="5860174" cy="403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1297500" y="393750"/>
            <a:ext cx="7038900" cy="5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/>
              <a:t>Interactive prototypes</a:t>
            </a:r>
            <a:endParaRPr b="1"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3" name="Google Shape;163;p17" title="Interactive prototypes - Iphone 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96900" y="1013300"/>
            <a:ext cx="6246927" cy="3956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title"/>
          </p:nvPr>
        </p:nvSpPr>
        <p:spPr>
          <a:xfrm>
            <a:off x="1297500" y="503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/>
              <a:t>Usability test with Indigo.Design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bg" sz="2177" u="sng">
                <a:solidFill>
                  <a:schemeClr val="hlink"/>
                </a:solidFill>
                <a:hlinkClick r:id="rId3"/>
              </a:rPr>
              <a:t>https://cloud.indigo.design/study/run/hjp8xzvfnbcb/</a:t>
            </a:r>
            <a:endParaRPr sz="2177"/>
          </a:p>
        </p:txBody>
      </p:sp>
      <p:sp>
        <p:nvSpPr>
          <p:cNvPr id="169" name="Google Shape;169;p18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18" title="task 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5600" y="964450"/>
            <a:ext cx="7296799" cy="3893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9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9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19" title="task 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400" y="590700"/>
            <a:ext cx="8551775" cy="355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0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84" name="Google Shape;184;p20" title="task 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0538" y="601800"/>
            <a:ext cx="8662926" cy="3527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1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21"/>
          <p:cNvSpPr txBox="1"/>
          <p:nvPr>
            <p:ph idx="1" type="body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1" name="Google Shape;191;p21" title="task 4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4400" y="791550"/>
            <a:ext cx="8655200" cy="356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2"/>
          <p:cNvSpPr txBox="1"/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bg"/>
              <a:t>Feedback</a:t>
            </a:r>
            <a:endParaRPr b="1"/>
          </a:p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1297500" y="1116150"/>
            <a:ext cx="7038900" cy="35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Some users showed unexpected interactions on the final confirmation screen. After completing the order, they tapped on the logo or greeting text instead of using the Logout button.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Users were unable to return to the previous screen when they made a mistake or selected the wrong option.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bg"/>
              <a:t>Android users reported that the menu bar was not visible on the Category screen, while iOS users had no navigation issues.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lang="bg" sz="1700"/>
              <a:t>Overall Conclusion</a:t>
            </a:r>
            <a:endParaRPr b="1" sz="1700"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bg"/>
              <a:t>The usability test showed that while the general ordering flow was understandable, there were some navigation and visibility issues that affected user experience, especially on Android devices.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